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4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2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lia" userId="3c4340a8-e5e4-4350-9654-3da2d9f0f77b" providerId="ADAL" clId="{E073B23D-C94F-4EB2-A875-572409E429D4}"/>
    <pc:docChg chg="delSld">
      <pc:chgData name="Yulia" userId="3c4340a8-e5e4-4350-9654-3da2d9f0f77b" providerId="ADAL" clId="{E073B23D-C94F-4EB2-A875-572409E429D4}" dt="2024-02-10T07:35:54.946" v="1" actId="47"/>
      <pc:docMkLst>
        <pc:docMk/>
      </pc:docMkLst>
      <pc:sldChg chg="del">
        <pc:chgData name="Yulia" userId="3c4340a8-e5e4-4350-9654-3da2d9f0f77b" providerId="ADAL" clId="{E073B23D-C94F-4EB2-A875-572409E429D4}" dt="2024-02-10T07:35:42.580" v="0" actId="47"/>
        <pc:sldMkLst>
          <pc:docMk/>
          <pc:sldMk cId="1083943960" sldId="270"/>
        </pc:sldMkLst>
      </pc:sldChg>
      <pc:sldChg chg="del">
        <pc:chgData name="Yulia" userId="3c4340a8-e5e4-4350-9654-3da2d9f0f77b" providerId="ADAL" clId="{E073B23D-C94F-4EB2-A875-572409E429D4}" dt="2024-02-10T07:35:42.580" v="0" actId="47"/>
        <pc:sldMkLst>
          <pc:docMk/>
          <pc:sldMk cId="2540512134" sldId="271"/>
        </pc:sldMkLst>
      </pc:sldChg>
      <pc:sldChg chg="del">
        <pc:chgData name="Yulia" userId="3c4340a8-e5e4-4350-9654-3da2d9f0f77b" providerId="ADAL" clId="{E073B23D-C94F-4EB2-A875-572409E429D4}" dt="2024-02-10T07:35:42.580" v="0" actId="47"/>
        <pc:sldMkLst>
          <pc:docMk/>
          <pc:sldMk cId="1065816969" sldId="272"/>
        </pc:sldMkLst>
      </pc:sldChg>
      <pc:sldChg chg="del">
        <pc:chgData name="Yulia" userId="3c4340a8-e5e4-4350-9654-3da2d9f0f77b" providerId="ADAL" clId="{E073B23D-C94F-4EB2-A875-572409E429D4}" dt="2024-02-10T07:35:42.580" v="0" actId="47"/>
        <pc:sldMkLst>
          <pc:docMk/>
          <pc:sldMk cId="1655672035" sldId="273"/>
        </pc:sldMkLst>
      </pc:sldChg>
      <pc:sldChg chg="del">
        <pc:chgData name="Yulia" userId="3c4340a8-e5e4-4350-9654-3da2d9f0f77b" providerId="ADAL" clId="{E073B23D-C94F-4EB2-A875-572409E429D4}" dt="2024-02-10T07:35:54.946" v="1" actId="47"/>
        <pc:sldMkLst>
          <pc:docMk/>
          <pc:sldMk cId="2723747280" sldId="276"/>
        </pc:sldMkLst>
      </pc:sldChg>
      <pc:sldChg chg="del">
        <pc:chgData name="Yulia" userId="3c4340a8-e5e4-4350-9654-3da2d9f0f77b" providerId="ADAL" clId="{E073B23D-C94F-4EB2-A875-572409E429D4}" dt="2024-02-10T07:35:54.946" v="1" actId="47"/>
        <pc:sldMkLst>
          <pc:docMk/>
          <pc:sldMk cId="1281957027" sldId="277"/>
        </pc:sldMkLst>
      </pc:sldChg>
      <pc:sldChg chg="del">
        <pc:chgData name="Yulia" userId="3c4340a8-e5e4-4350-9654-3da2d9f0f77b" providerId="ADAL" clId="{E073B23D-C94F-4EB2-A875-572409E429D4}" dt="2024-02-10T07:35:54.946" v="1" actId="47"/>
        <pc:sldMkLst>
          <pc:docMk/>
          <pc:sldMk cId="3530466497" sldId="278"/>
        </pc:sldMkLst>
      </pc:sldChg>
      <pc:sldChg chg="del">
        <pc:chgData name="Yulia" userId="3c4340a8-e5e4-4350-9654-3da2d9f0f77b" providerId="ADAL" clId="{E073B23D-C94F-4EB2-A875-572409E429D4}" dt="2024-02-10T07:35:54.946" v="1" actId="47"/>
        <pc:sldMkLst>
          <pc:docMk/>
          <pc:sldMk cId="2620337751" sldId="279"/>
        </pc:sldMkLst>
      </pc:sldChg>
      <pc:sldChg chg="del">
        <pc:chgData name="Yulia" userId="3c4340a8-e5e4-4350-9654-3da2d9f0f77b" providerId="ADAL" clId="{E073B23D-C94F-4EB2-A875-572409E429D4}" dt="2024-02-10T07:35:54.946" v="1" actId="47"/>
        <pc:sldMkLst>
          <pc:docMk/>
          <pc:sldMk cId="3678031596" sldId="280"/>
        </pc:sldMkLst>
      </pc:sldChg>
      <pc:sldChg chg="del">
        <pc:chgData name="Yulia" userId="3c4340a8-e5e4-4350-9654-3da2d9f0f77b" providerId="ADAL" clId="{E073B23D-C94F-4EB2-A875-572409E429D4}" dt="2024-02-10T07:35:54.946" v="1" actId="47"/>
        <pc:sldMkLst>
          <pc:docMk/>
          <pc:sldMk cId="2858671799" sldId="281"/>
        </pc:sldMkLst>
      </pc:sldChg>
      <pc:sldChg chg="del">
        <pc:chgData name="Yulia" userId="3c4340a8-e5e4-4350-9654-3da2d9f0f77b" providerId="ADAL" clId="{E073B23D-C94F-4EB2-A875-572409E429D4}" dt="2024-02-10T07:35:54.946" v="1" actId="47"/>
        <pc:sldMkLst>
          <pc:docMk/>
          <pc:sldMk cId="3399266329" sldId="282"/>
        </pc:sldMkLst>
      </pc:sldChg>
      <pc:sldChg chg="del">
        <pc:chgData name="Yulia" userId="3c4340a8-e5e4-4350-9654-3da2d9f0f77b" providerId="ADAL" clId="{E073B23D-C94F-4EB2-A875-572409E429D4}" dt="2024-02-10T07:35:42.580" v="0" actId="47"/>
        <pc:sldMkLst>
          <pc:docMk/>
          <pc:sldMk cId="514719700" sldId="283"/>
        </pc:sldMkLst>
      </pc:sldChg>
      <pc:sldChg chg="del">
        <pc:chgData name="Yulia" userId="3c4340a8-e5e4-4350-9654-3da2d9f0f77b" providerId="ADAL" clId="{E073B23D-C94F-4EB2-A875-572409E429D4}" dt="2024-02-10T07:35:42.580" v="0" actId="47"/>
        <pc:sldMkLst>
          <pc:docMk/>
          <pc:sldMk cId="513905529" sldId="284"/>
        </pc:sldMkLst>
      </pc:sldChg>
      <pc:sldChg chg="del">
        <pc:chgData name="Yulia" userId="3c4340a8-e5e4-4350-9654-3da2d9f0f77b" providerId="ADAL" clId="{E073B23D-C94F-4EB2-A875-572409E429D4}" dt="2024-02-10T07:35:42.580" v="0" actId="47"/>
        <pc:sldMkLst>
          <pc:docMk/>
          <pc:sldMk cId="3867155150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AA3A7-A531-436D-997E-10E7A2D06061}" type="datetimeFigureOut">
              <a:rPr lang="en-US" smtClean="0"/>
              <a:t>2/10/2024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33A91-DA7E-4AF7-B281-94E6DBC87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11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romi@romisatriawahono.net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Systems Analysis and Design</a:t>
            </a:r>
            <a:endParaRPr lang="en-US" altLang="ja-JP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http://romisatriawahono.net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53877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DFED-1995-4F2F-ABF7-97E546A19C58}" type="datetimeFigureOut">
              <a:rPr lang="en-US" smtClean="0"/>
              <a:t>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A3DF2-CB81-472A-B163-C16F573E5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59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DFED-1995-4F2F-ABF7-97E546A19C58}" type="datetimeFigureOut">
              <a:rPr lang="en-US" smtClean="0"/>
              <a:t>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A3DF2-CB81-472A-B163-C16F573E5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55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DFED-1995-4F2F-ABF7-97E546A19C58}" type="datetimeFigureOut">
              <a:rPr lang="en-US" smtClean="0"/>
              <a:t>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A3DF2-CB81-472A-B163-C16F573E5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22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DFED-1995-4F2F-ABF7-97E546A19C58}" type="datetimeFigureOut">
              <a:rPr lang="en-US" smtClean="0"/>
              <a:t>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A3DF2-CB81-472A-B163-C16F573E5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91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DFED-1995-4F2F-ABF7-97E546A19C58}" type="datetimeFigureOut">
              <a:rPr lang="en-US" smtClean="0"/>
              <a:t>2/10/2024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A3DF2-CB81-472A-B163-C16F573E5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960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DFED-1995-4F2F-ABF7-97E546A19C58}" type="datetimeFigureOut">
              <a:rPr lang="en-US" smtClean="0"/>
              <a:t>2/10/2024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A3DF2-CB81-472A-B163-C16F573E5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7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DFED-1995-4F2F-ABF7-97E546A19C58}" type="datetimeFigureOut">
              <a:rPr lang="en-US" smtClean="0"/>
              <a:t>2/10/2024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A3DF2-CB81-472A-B163-C16F573E5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96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DFED-1995-4F2F-ABF7-97E546A19C58}" type="datetimeFigureOut">
              <a:rPr lang="en-US" smtClean="0"/>
              <a:t>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A3DF2-CB81-472A-B163-C16F573E5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80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DFED-1995-4F2F-ABF7-97E546A19C58}" type="datetimeFigureOut">
              <a:rPr lang="en-US" smtClean="0"/>
              <a:t>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A3DF2-CB81-472A-B163-C16F573E5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33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DFED-1995-4F2F-ABF7-97E546A19C58}" type="datetimeFigureOut">
              <a:rPr lang="en-US" smtClean="0"/>
              <a:t>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A3DF2-CB81-472A-B163-C16F573E5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908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DFED-1995-4F2F-ABF7-97E546A19C58}" type="datetimeFigureOut">
              <a:rPr lang="en-US" smtClean="0"/>
              <a:t>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A3DF2-CB81-472A-B163-C16F573E5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510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1DFED-1995-4F2F-ABF7-97E546A19C58}" type="datetimeFigureOut">
              <a:rPr lang="en-US" smtClean="0"/>
              <a:t>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A3DF2-CB81-472A-B163-C16F573E5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473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000" dirty="0" err="1"/>
              <a:t>Studi</a:t>
            </a:r>
            <a:r>
              <a:rPr lang="en-US" sz="5000" dirty="0"/>
              <a:t> </a:t>
            </a:r>
            <a:r>
              <a:rPr lang="en-US" sz="5000" dirty="0" err="1"/>
              <a:t>Kasus</a:t>
            </a:r>
            <a:r>
              <a:rPr lang="en-US" sz="5000" dirty="0"/>
              <a:t> Feasibility Study -1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98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600200" y="1"/>
          <a:ext cx="8991600" cy="6850998"/>
        </p:xfrm>
        <a:graphic>
          <a:graphicData uri="http://schemas.openxmlformats.org/drawingml/2006/table">
            <a:tbl>
              <a:tblPr/>
              <a:tblGrid>
                <a:gridCol w="1640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1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919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System Request</a:t>
                      </a:r>
                      <a:r>
                        <a:rPr lang="en-US" sz="2000" b="1" i="0" u="none" strike="noStrike" baseline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: </a:t>
                      </a:r>
                      <a:r>
                        <a:rPr lang="id-ID" sz="2000" b="1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Sistem Penjualan Musik Online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4279" marR="4279" marT="4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19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Project Sponsor:</a:t>
                      </a:r>
                    </a:p>
                  </a:txBody>
                  <a:tcPr marL="4279" marR="4279" marT="4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Margaret Mooney, Vice President of Marketing</a:t>
                      </a:r>
                    </a:p>
                  </a:txBody>
                  <a:tcPr marL="4279" marR="4279" marT="4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008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Business Needs:</a:t>
                      </a:r>
                    </a:p>
                  </a:txBody>
                  <a:tcPr marL="4279" marR="4279" marT="4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Project ini dibangun untuk:</a:t>
                      </a:r>
                    </a:p>
                    <a:p>
                      <a:pPr marL="342900" indent="-342900" algn="l" fontAlgn="t">
                        <a:buAutoNum type="arabicPeriod"/>
                      </a:pP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Mendapatkan pelanggan baru lewat Internet</a:t>
                      </a:r>
                    </a:p>
                    <a:p>
                      <a:pPr marL="342900" indent="-342900" algn="l" fontAlgn="t">
                        <a:buAutoNum type="arabicPeriod"/>
                      </a:pPr>
                      <a:endParaRPr lang="id-ID" sz="1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342900" indent="-342900" algn="l" fontAlgn="t">
                        <a:buAutoNum type="arabicPeriod"/>
                      </a:pPr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Meningkatkan efisiensi penanganan masalah pelanggan melalui internet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279" marR="4279" marT="4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19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Business Requirements:</a:t>
                      </a:r>
                    </a:p>
                  </a:txBody>
                  <a:tcPr marL="4279" marR="4279" marT="4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0469">
                <a:tc gridSpan="2">
                  <a:txBody>
                    <a:bodyPr/>
                    <a:lstStyle/>
                    <a:p>
                      <a:pPr algn="l" fontAlgn="t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Sistem yang mendukung penjualan musik secara </a:t>
                      </a:r>
                      <a:r>
                        <a:rPr lang="id-ID" sz="1800" b="0" i="0" u="none" strike="noStrike" dirty="0" err="1">
                          <a:solidFill>
                            <a:srgbClr val="000000"/>
                          </a:solidFill>
                          <a:latin typeface="+mn-lt"/>
                        </a:rPr>
                        <a:t>online</a:t>
                      </a: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.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Fitur-fitur yang harus ada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:</a:t>
                      </a:r>
                    </a:p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r>
                        <a:rPr lang="id-ID" sz="1800" b="0" i="0" u="none" strike="noStrike" dirty="0" err="1">
                          <a:solidFill>
                            <a:srgbClr val="C00000"/>
                          </a:solidFill>
                          <a:latin typeface="+mn-lt"/>
                        </a:rPr>
                        <a:t>Fitur</a:t>
                      </a:r>
                      <a:r>
                        <a:rPr lang="id-ID" sz="1800" b="0" i="0" u="none" strike="noStrike" dirty="0">
                          <a:solidFill>
                            <a:srgbClr val="C00000"/>
                          </a:solidFill>
                          <a:latin typeface="+mn-lt"/>
                        </a:rPr>
                        <a:t> Pencarian Produk</a:t>
                      </a:r>
                    </a:p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r>
                        <a:rPr lang="id-ID" sz="1800" b="0" i="0" u="none" strike="noStrike" dirty="0" err="1">
                          <a:solidFill>
                            <a:srgbClr val="C00000"/>
                          </a:solidFill>
                          <a:latin typeface="+mn-lt"/>
                        </a:rPr>
                        <a:t>Fitur</a:t>
                      </a:r>
                      <a:r>
                        <a:rPr lang="id-ID" sz="1800" b="0" i="0" u="none" strike="noStrike" dirty="0">
                          <a:solidFill>
                            <a:srgbClr val="C00000"/>
                          </a:solidFill>
                          <a:latin typeface="+mn-lt"/>
                        </a:rPr>
                        <a:t> Pencarian Toko yang Menyediakan Stok Produk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latin typeface="+mn-lt"/>
                      </a:endParaRPr>
                    </a:p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r>
                        <a:rPr lang="id-ID" sz="1800" b="0" i="0" u="none" strike="noStrike" dirty="0" err="1">
                          <a:solidFill>
                            <a:srgbClr val="C00000"/>
                          </a:solidFill>
                          <a:latin typeface="+mn-lt"/>
                        </a:rPr>
                        <a:t>Fitur</a:t>
                      </a:r>
                      <a:r>
                        <a:rPr lang="id-ID" sz="1800" b="0" i="0" u="none" strike="noStrike" dirty="0">
                          <a:solidFill>
                            <a:srgbClr val="C00000"/>
                          </a:solidFill>
                          <a:latin typeface="+mn-lt"/>
                        </a:rPr>
                        <a:t> Pemesanan Produk Melalui Toko yang Menyediakan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r>
                        <a:rPr lang="id-ID" sz="1800" b="0" i="0" u="none" strike="noStrike" dirty="0" err="1">
                          <a:solidFill>
                            <a:srgbClr val="C00000"/>
                          </a:solidFill>
                          <a:latin typeface="+mn-lt"/>
                        </a:rPr>
                        <a:t>Fitur</a:t>
                      </a:r>
                      <a:r>
                        <a:rPr lang="id-ID" sz="1800" b="0" i="0" u="none" strike="noStrike" dirty="0">
                          <a:solidFill>
                            <a:srgbClr val="C00000"/>
                          </a:solidFill>
                          <a:latin typeface="+mn-lt"/>
                        </a:rPr>
                        <a:t> Pembayaran dengan Berbagai Pilihan Pembayaran</a:t>
                      </a:r>
                    </a:p>
                  </a:txBody>
                  <a:tcPr marL="4279" marR="4279" marT="4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19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Business Value:</a:t>
                      </a:r>
                    </a:p>
                  </a:txBody>
                  <a:tcPr marL="4279" marR="4279" marT="4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5573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Intangible Value:</a:t>
                      </a:r>
                    </a:p>
                    <a:p>
                      <a:pPr marL="742950" lvl="1" indent="-285750" algn="l" fontAlgn="t">
                        <a:buFont typeface="Wingdings" panose="05000000000000000000" pitchFamily="2" charset="2"/>
                        <a:buChar char="§"/>
                      </a:pP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Meningkatkan kenyamanan dan </a:t>
                      </a:r>
                      <a:r>
                        <a:rPr lang="id-ID" sz="1800" b="0" i="0" u="none" strike="noStrike" dirty="0">
                          <a:solidFill>
                            <a:srgbClr val="C00000"/>
                          </a:solidFill>
                          <a:latin typeface="+mn-lt"/>
                        </a:rPr>
                        <a:t>kepuasan pelanggan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latin typeface="+mn-lt"/>
                      </a:endParaRPr>
                    </a:p>
                    <a:p>
                      <a:pPr marL="742950" lvl="1" indent="-285750" algn="l" fontAlgn="t">
                        <a:buFont typeface="Wingdings" panose="05000000000000000000" pitchFamily="2" charset="2"/>
                        <a:buChar char="§"/>
                      </a:pPr>
                      <a:r>
                        <a:rPr lang="id-ID" sz="18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Meningkatkan </a:t>
                      </a:r>
                      <a:r>
                        <a:rPr lang="id-ID" sz="1800" b="0" i="0" u="none" strike="noStrike" baseline="0" dirty="0" err="1">
                          <a:solidFill>
                            <a:srgbClr val="0070C0"/>
                          </a:solidFill>
                          <a:latin typeface="+mn-lt"/>
                        </a:rPr>
                        <a:t>brand</a:t>
                      </a:r>
                      <a:r>
                        <a:rPr lang="id-ID" sz="1800" b="0" i="0" u="none" strike="noStrike" baseline="0" dirty="0">
                          <a:solidFill>
                            <a:srgbClr val="0070C0"/>
                          </a:solidFill>
                          <a:latin typeface="+mn-lt"/>
                        </a:rPr>
                        <a:t> </a:t>
                      </a:r>
                      <a:r>
                        <a:rPr lang="id-ID" sz="1800" b="0" i="0" u="none" strike="noStrike" baseline="0" dirty="0" err="1">
                          <a:solidFill>
                            <a:srgbClr val="0070C0"/>
                          </a:solidFill>
                          <a:latin typeface="+mn-lt"/>
                        </a:rPr>
                        <a:t>recognition</a:t>
                      </a:r>
                      <a:r>
                        <a:rPr lang="id-ID" sz="1800" b="0" i="0" u="none" strike="noStrike" baseline="0" dirty="0">
                          <a:solidFill>
                            <a:srgbClr val="0070C0"/>
                          </a:solidFill>
                          <a:latin typeface="+mn-lt"/>
                        </a:rPr>
                        <a:t> </a:t>
                      </a:r>
                      <a:r>
                        <a:rPr lang="id-ID" sz="18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tentang perusahaan di dunia Internet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l" fontAlgn="t"/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Tangible Value: </a:t>
                      </a:r>
                    </a:p>
                    <a:p>
                      <a:pPr marL="457200" lvl="1" indent="0" algn="l" fontAlgn="t">
                        <a:buFont typeface="Wingdings" panose="05000000000000000000" pitchFamily="2" charset="2"/>
                        <a:buNone/>
                      </a:pPr>
                      <a:r>
                        <a:rPr lang="id-ID" sz="1800" b="0" i="0" u="none" strike="noStrike" dirty="0">
                          <a:solidFill>
                            <a:srgbClr val="0070C0"/>
                          </a:solidFill>
                          <a:latin typeface="+mn-lt"/>
                        </a:rPr>
                        <a:t>1. Meningkatkan penjualan dari pelanggan baru lewat Internet:</a:t>
                      </a:r>
                      <a:endParaRPr lang="en-US" sz="1800" b="0" i="0" u="none" strike="noStrike"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1257300" lvl="2" indent="-34290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Rp 400 juta </a:t>
                      </a:r>
                      <a:r>
                        <a:rPr lang="id-ID" sz="1800" b="0" i="0" u="none" strike="noStrike" dirty="0">
                          <a:solidFill>
                            <a:srgbClr val="00B050"/>
                          </a:solidFill>
                          <a:latin typeface="+mn-lt"/>
                        </a:rPr>
                        <a:t>peningkatan penjualan </a:t>
                      </a: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dari pelanggan baru dan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</a:t>
                      </a: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p 600 juta dari pelanggan lama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457200" lvl="1" indent="0" algn="l" fontAlgn="t">
                        <a:buFont typeface="Wingdings" panose="05000000000000000000" pitchFamily="2" charset="2"/>
                        <a:buNone/>
                      </a:pPr>
                      <a:r>
                        <a:rPr lang="id-ID" sz="1800" b="0" i="0" u="none" strike="noStrike" dirty="0">
                          <a:solidFill>
                            <a:srgbClr val="C00000"/>
                          </a:solidFill>
                          <a:latin typeface="+mn-lt"/>
                        </a:rPr>
                        <a:t>2. Mengurangi biaya operasional untuk menangani komplain dari pelanggan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1257300" lvl="2" indent="-34290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Rp 100 juta </a:t>
                      </a:r>
                      <a:r>
                        <a:rPr lang="id-ID" sz="1800" b="0" i="0" u="none" strike="noStrike" dirty="0">
                          <a:solidFill>
                            <a:srgbClr val="00B050"/>
                          </a:solidFill>
                          <a:latin typeface="+mn-lt"/>
                        </a:rPr>
                        <a:t>pengurangan</a:t>
                      </a: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tahunan biaya telepon untuk menangani pelanggan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279" marR="4279" marT="4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: Rounded Corners 4"/>
          <p:cNvSpPr/>
          <p:nvPr/>
        </p:nvSpPr>
        <p:spPr>
          <a:xfrm>
            <a:off x="2286000" y="838200"/>
            <a:ext cx="5943600" cy="304800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>
            <a:cxnSpLocks/>
          </p:cNvCxnSpPr>
          <p:nvPr/>
        </p:nvCxnSpPr>
        <p:spPr>
          <a:xfrm>
            <a:off x="2609850" y="1139798"/>
            <a:ext cx="457200" cy="427040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/>
          <p:cNvSpPr/>
          <p:nvPr/>
        </p:nvSpPr>
        <p:spPr>
          <a:xfrm>
            <a:off x="3067050" y="1368512"/>
            <a:ext cx="7296150" cy="46028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 flipH="1">
            <a:off x="6172200" y="1828800"/>
            <a:ext cx="3276600" cy="4419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</p:cNvCxnSpPr>
          <p:nvPr/>
        </p:nvCxnSpPr>
        <p:spPr>
          <a:xfrm flipH="1">
            <a:off x="5867401" y="1828800"/>
            <a:ext cx="2514601" cy="25908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</p:cNvCxnSpPr>
          <p:nvPr/>
        </p:nvCxnSpPr>
        <p:spPr>
          <a:xfrm>
            <a:off x="3160538" y="1139798"/>
            <a:ext cx="878062" cy="358460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122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00200" y="0"/>
          <a:ext cx="8991600" cy="6842406"/>
        </p:xfrm>
        <a:graphic>
          <a:graphicData uri="http://schemas.openxmlformats.org/drawingml/2006/table">
            <a:tbl>
              <a:tblPr firstRow="1">
                <a:tableStyleId>{5DA37D80-6434-44D0-A028-1B22A696006F}</a:tableStyleId>
              </a:tblPr>
              <a:tblGrid>
                <a:gridCol w="899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5923">
                <a:tc>
                  <a:txBody>
                    <a:bodyPr/>
                    <a:lstStyle/>
                    <a:p>
                      <a:pPr algn="ctr"/>
                      <a:r>
                        <a:rPr lang="id-ID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Studi Kelayakan Sistem Penjualan Musik Online</a:t>
                      </a:r>
                      <a:endParaRPr lang="en-US" sz="2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677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Margaret Mooney </a:t>
                      </a:r>
                      <a:r>
                        <a:rPr lang="id-ID" sz="2000" dirty="0"/>
                        <a:t>dan</a:t>
                      </a:r>
                      <a:r>
                        <a:rPr lang="en-US" sz="2000" dirty="0"/>
                        <a:t> Alec Adams </a:t>
                      </a:r>
                      <a:r>
                        <a:rPr lang="id-ID" sz="2000" dirty="0"/>
                        <a:t>membuat studi</a:t>
                      </a:r>
                      <a:r>
                        <a:rPr lang="id-ID" sz="2000" baseline="0" dirty="0"/>
                        <a:t> kelayakan untuk pengembangan Sistem </a:t>
                      </a:r>
                      <a:r>
                        <a:rPr lang="id-ID" sz="2000" dirty="0"/>
                        <a:t>Penjualan Musik</a:t>
                      </a:r>
                      <a:r>
                        <a:rPr lang="en-US" sz="2000" dirty="0"/>
                        <a:t> </a:t>
                      </a:r>
                      <a:r>
                        <a:rPr lang="id-ID" sz="2000" dirty="0"/>
                        <a:t>Online</a:t>
                      </a:r>
                    </a:p>
                  </a:txBody>
                  <a:tcPr marL="14886" marR="14886" marT="7443" marB="7443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1359">
                <a:tc>
                  <a:txBody>
                    <a:bodyPr/>
                    <a:lstStyle/>
                    <a:p>
                      <a:pPr algn="l"/>
                      <a:r>
                        <a:rPr lang="id-ID" sz="2400" b="1" dirty="0"/>
                        <a:t>Kelayakan Teknis</a:t>
                      </a:r>
                      <a:endParaRPr lang="en-US" sz="2400" b="1" dirty="0"/>
                    </a:p>
                    <a:p>
                      <a:pPr algn="l"/>
                      <a:endParaRPr lang="id-ID" sz="1100" dirty="0"/>
                    </a:p>
                    <a:p>
                      <a:pPr algn="l"/>
                      <a:r>
                        <a:rPr lang="en-ID" sz="2000" dirty="0" err="1"/>
                        <a:t>Sistem</a:t>
                      </a:r>
                      <a:r>
                        <a:rPr lang="en-ID" sz="2000" dirty="0"/>
                        <a:t> </a:t>
                      </a:r>
                      <a:r>
                        <a:rPr lang="id-ID" sz="2000" dirty="0"/>
                        <a:t>penjualan</a:t>
                      </a:r>
                      <a:r>
                        <a:rPr lang="id-ID" sz="2000" baseline="0" dirty="0"/>
                        <a:t> musik </a:t>
                      </a:r>
                      <a:r>
                        <a:rPr lang="id-ID" sz="2000" baseline="0" dirty="0" err="1"/>
                        <a:t>online</a:t>
                      </a:r>
                      <a:r>
                        <a:rPr lang="id-ID" sz="2000" baseline="0" dirty="0"/>
                        <a:t> </a:t>
                      </a:r>
                      <a:r>
                        <a:rPr lang="id-ID" sz="2000" dirty="0"/>
                        <a:t>layak secara</a:t>
                      </a:r>
                      <a:r>
                        <a:rPr lang="id-ID" sz="2000" baseline="0" dirty="0"/>
                        <a:t> teknis, meskipun memiliki beberapa risiko.</a:t>
                      </a:r>
                      <a:r>
                        <a:rPr lang="en-US" sz="2000" dirty="0"/>
                        <a:t> </a:t>
                      </a:r>
                    </a:p>
                    <a:p>
                      <a:pPr algn="l"/>
                      <a:endParaRPr lang="en-US" sz="1050" dirty="0"/>
                    </a:p>
                    <a:p>
                      <a:pPr algn="l"/>
                      <a:r>
                        <a:rPr lang="id-ID" sz="2000" dirty="0"/>
                        <a:t>Risiko Berhubungan dengan </a:t>
                      </a:r>
                      <a:r>
                        <a:rPr lang="id-ID" sz="2000" b="1" dirty="0" err="1">
                          <a:solidFill>
                            <a:srgbClr val="C00000"/>
                          </a:solidFill>
                        </a:rPr>
                        <a:t>Kefamilieran</a:t>
                      </a:r>
                      <a:r>
                        <a:rPr lang="id-ID" sz="2000" b="1" dirty="0">
                          <a:solidFill>
                            <a:srgbClr val="C00000"/>
                          </a:solidFill>
                        </a:rPr>
                        <a:t> dengan Aplikasi</a:t>
                      </a:r>
                      <a:r>
                        <a:rPr lang="id-ID" sz="2000" baseline="0" dirty="0"/>
                        <a:t>: </a:t>
                      </a:r>
                      <a:r>
                        <a:rPr lang="id-ID" sz="2000" baseline="0" dirty="0" err="1"/>
                        <a:t>Resiko</a:t>
                      </a:r>
                      <a:r>
                        <a:rPr lang="id-ID" sz="2000" baseline="0" dirty="0"/>
                        <a:t> </a:t>
                      </a:r>
                      <a:r>
                        <a:rPr lang="id-ID" sz="2000" baseline="0" dirty="0">
                          <a:solidFill>
                            <a:srgbClr val="0070C0"/>
                          </a:solidFill>
                        </a:rPr>
                        <a:t>Tinggi</a:t>
                      </a:r>
                      <a:endParaRPr lang="en-US" sz="2000" b="1" dirty="0">
                        <a:solidFill>
                          <a:srgbClr val="0070C0"/>
                        </a:solidFill>
                      </a:endParaRPr>
                    </a:p>
                    <a:p>
                      <a:pPr marL="800100" lvl="1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id-ID" sz="1800" dirty="0"/>
                        <a:t>Divisi </a:t>
                      </a:r>
                      <a:r>
                        <a:rPr lang="id-ID" sz="1800" dirty="0" err="1"/>
                        <a:t>Marketing</a:t>
                      </a:r>
                      <a:r>
                        <a:rPr lang="id-ID" sz="1800" dirty="0"/>
                        <a:t> </a:t>
                      </a:r>
                      <a:r>
                        <a:rPr lang="id-ID" sz="1800" dirty="0">
                          <a:solidFill>
                            <a:srgbClr val="00B050"/>
                          </a:solidFill>
                        </a:rPr>
                        <a:t>tidak</a:t>
                      </a:r>
                      <a:r>
                        <a:rPr lang="id-ID" sz="1800" baseline="0" dirty="0">
                          <a:solidFill>
                            <a:srgbClr val="00B050"/>
                          </a:solidFill>
                        </a:rPr>
                        <a:t> memiliki pengalaman </a:t>
                      </a:r>
                      <a:r>
                        <a:rPr lang="id-ID" sz="1800" baseline="0" dirty="0"/>
                        <a:t>menggunakan sistem penjualan </a:t>
                      </a:r>
                      <a:r>
                        <a:rPr lang="id-ID" sz="1800" baseline="0" dirty="0" err="1"/>
                        <a:t>online</a:t>
                      </a:r>
                      <a:endParaRPr lang="en-US" sz="1800" dirty="0"/>
                    </a:p>
                    <a:p>
                      <a:pPr marL="800100" lvl="1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id-ID" sz="1800" dirty="0"/>
                        <a:t>Divisi IT memiliki pemahaman yang baik tentang sistem penjualan </a:t>
                      </a:r>
                      <a:r>
                        <a:rPr lang="id-ID" sz="1800" dirty="0" err="1"/>
                        <a:t>offline</a:t>
                      </a:r>
                      <a:r>
                        <a:rPr lang="id-ID" sz="1800" baseline="0" dirty="0"/>
                        <a:t>, akan tetapi </a:t>
                      </a:r>
                      <a:r>
                        <a:rPr lang="id-ID" sz="1800" baseline="0" dirty="0">
                          <a:solidFill>
                            <a:srgbClr val="00B050"/>
                          </a:solidFill>
                        </a:rPr>
                        <a:t>tidak berpengalaman </a:t>
                      </a:r>
                      <a:r>
                        <a:rPr lang="id-ID" sz="1800" baseline="0" dirty="0"/>
                        <a:t>mengembangkan sistem penjualan musik </a:t>
                      </a:r>
                      <a:r>
                        <a:rPr lang="id-ID" sz="1800" baseline="0" dirty="0" err="1"/>
                        <a:t>online</a:t>
                      </a:r>
                      <a:endParaRPr lang="id-ID" sz="1800" baseline="0" dirty="0"/>
                    </a:p>
                    <a:p>
                      <a:pPr marL="800100" lvl="1" indent="-342900" algn="l">
                        <a:buFont typeface="Arial" panose="020B0604020202020204" pitchFamily="34" charset="0"/>
                        <a:buChar char="•"/>
                      </a:pPr>
                      <a:endParaRPr lang="en-US" sz="1050" dirty="0">
                        <a:solidFill>
                          <a:srgbClr val="0070C0"/>
                        </a:solidFill>
                      </a:endParaRPr>
                    </a:p>
                    <a:p>
                      <a:pPr algn="l"/>
                      <a:r>
                        <a:rPr lang="en-US" sz="2000" dirty="0" err="1"/>
                        <a:t>Risiko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Berhubungan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C00000"/>
                          </a:solidFill>
                        </a:rPr>
                        <a:t>Kefamili</a:t>
                      </a:r>
                      <a:r>
                        <a:rPr lang="id-ID" sz="20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ran </a:t>
                      </a:r>
                      <a:r>
                        <a:rPr lang="en-US" sz="2000" b="1" dirty="0" err="1">
                          <a:solidFill>
                            <a:srgbClr val="C00000"/>
                          </a:solidFill>
                        </a:rPr>
                        <a:t>dengan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id-ID" sz="2000" b="1" dirty="0">
                          <a:solidFill>
                            <a:srgbClr val="C00000"/>
                          </a:solidFill>
                        </a:rPr>
                        <a:t>Teknologi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 err="1"/>
                        <a:t>Resiko</a:t>
                      </a:r>
                      <a:r>
                        <a:rPr lang="en-US" sz="2000" dirty="0"/>
                        <a:t> </a:t>
                      </a:r>
                      <a:r>
                        <a:rPr lang="id-ID" sz="2000" dirty="0">
                          <a:solidFill>
                            <a:srgbClr val="0070C0"/>
                          </a:solidFill>
                        </a:rPr>
                        <a:t>Sedang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 </a:t>
                      </a:r>
                    </a:p>
                    <a:p>
                      <a:pPr marL="800100" lvl="1" indent="-342900" algn="l">
                        <a:buFont typeface="Arial" pitchFamily="34" charset="0"/>
                        <a:buChar char="•"/>
                      </a:pPr>
                      <a:r>
                        <a:rPr lang="id-ID" sz="1800" dirty="0"/>
                        <a:t>Divisi IT tidak menguasai </a:t>
                      </a:r>
                      <a:r>
                        <a:rPr lang="id-ID" sz="1800" baseline="0" dirty="0"/>
                        <a:t>masalah infrastruktur dan ISP, tetapi </a:t>
                      </a:r>
                      <a:r>
                        <a:rPr lang="id-ID" sz="1800" dirty="0"/>
                        <a:t>akan menyewa konsultan</a:t>
                      </a:r>
                      <a:r>
                        <a:rPr lang="id-ID" sz="1800" baseline="0" dirty="0"/>
                        <a:t>  </a:t>
                      </a:r>
                      <a:endParaRPr lang="en-US" sz="1800" dirty="0"/>
                    </a:p>
                    <a:p>
                      <a:pPr marL="800100" lvl="1" indent="-342900" algn="l">
                        <a:buFont typeface="Arial" pitchFamily="34" charset="0"/>
                        <a:buChar char="•"/>
                      </a:pPr>
                      <a:r>
                        <a:rPr lang="id-ID" sz="1800" dirty="0"/>
                        <a:t>Divisi IT cukup familier dengan </a:t>
                      </a:r>
                      <a:r>
                        <a:rPr lang="id-ID" sz="1800" dirty="0" err="1"/>
                        <a:t>framework</a:t>
                      </a:r>
                      <a:r>
                        <a:rPr lang="id-ID" sz="1800" dirty="0"/>
                        <a:t> dan IDE yang akan digunakan</a:t>
                      </a:r>
                    </a:p>
                    <a:p>
                      <a:pPr marL="800100" lvl="1" indent="-342900" algn="l">
                        <a:buFont typeface="Arial" pitchFamily="34" charset="0"/>
                        <a:buChar char="•"/>
                      </a:pPr>
                      <a:r>
                        <a:rPr lang="id-ID" sz="1800" dirty="0"/>
                        <a:t>Divisi </a:t>
                      </a:r>
                      <a:r>
                        <a:rPr lang="id-ID" sz="1800" dirty="0" err="1"/>
                        <a:t>Marketing</a:t>
                      </a:r>
                      <a:r>
                        <a:rPr lang="id-ID" sz="1800" baseline="0" dirty="0"/>
                        <a:t> tidak memiliki pengalaman menggunakan teknologi Web</a:t>
                      </a:r>
                    </a:p>
                    <a:p>
                      <a:pPr marL="800100" lvl="1" indent="-342900" algn="l">
                        <a:buFont typeface="Arial" pitchFamily="34" charset="0"/>
                        <a:buChar char="•"/>
                      </a:pPr>
                      <a:endParaRPr lang="id-ID" sz="1100" dirty="0"/>
                    </a:p>
                    <a:p>
                      <a:pPr algn="l"/>
                      <a:r>
                        <a:rPr lang="id-ID" sz="2000" dirty="0"/>
                        <a:t>Risiko berhubungan dengan</a:t>
                      </a:r>
                      <a:r>
                        <a:rPr lang="id-ID" sz="2000" baseline="0" dirty="0"/>
                        <a:t> </a:t>
                      </a:r>
                      <a:r>
                        <a:rPr lang="id-ID" sz="2000" b="1" baseline="0" dirty="0">
                          <a:solidFill>
                            <a:srgbClr val="C00000"/>
                          </a:solidFill>
                        </a:rPr>
                        <a:t>Ukuran Project</a:t>
                      </a:r>
                      <a:r>
                        <a:rPr lang="id-ID" sz="2000" baseline="0" dirty="0"/>
                        <a:t>: Risiko </a:t>
                      </a:r>
                      <a:r>
                        <a:rPr lang="id-ID" sz="2000" baseline="0" dirty="0">
                          <a:solidFill>
                            <a:srgbClr val="0070C0"/>
                          </a:solidFill>
                        </a:rPr>
                        <a:t>Rendah</a:t>
                      </a:r>
                      <a:endParaRPr lang="id-ID" sz="2000" dirty="0">
                        <a:solidFill>
                          <a:srgbClr val="0070C0"/>
                        </a:solidFill>
                      </a:endParaRPr>
                    </a:p>
                    <a:p>
                      <a:pPr marL="800100" lvl="1" indent="-342900" algn="l">
                        <a:buFont typeface="Arial" pitchFamily="34" charset="0"/>
                        <a:buChar char="•"/>
                      </a:pPr>
                      <a:r>
                        <a:rPr lang="id-ID" sz="1800" dirty="0"/>
                        <a:t>Perusahaan memiliki total </a:t>
                      </a:r>
                      <a:r>
                        <a:rPr lang="id-ID" sz="1800" dirty="0">
                          <a:solidFill>
                            <a:srgbClr val="00B050"/>
                          </a:solidFill>
                        </a:rPr>
                        <a:t>30 orang pengembang </a:t>
                      </a:r>
                    </a:p>
                    <a:p>
                      <a:pPr marL="800100" lvl="1" indent="-342900" algn="l">
                        <a:buFont typeface="Arial" pitchFamily="34" charset="0"/>
                        <a:buChar char="•"/>
                      </a:pPr>
                      <a:r>
                        <a:rPr lang="id-ID" sz="1800" dirty="0"/>
                        <a:t>Project dikerjakan oleh </a:t>
                      </a:r>
                      <a:r>
                        <a:rPr lang="id-ID" sz="1800" dirty="0">
                          <a:solidFill>
                            <a:srgbClr val="00B050"/>
                          </a:solidFill>
                        </a:rPr>
                        <a:t>5 orang pengembang </a:t>
                      </a:r>
                      <a:r>
                        <a:rPr lang="id-ID" sz="1800" dirty="0"/>
                        <a:t>dengan</a:t>
                      </a:r>
                      <a:r>
                        <a:rPr lang="id-ID" sz="1800" baseline="0" dirty="0"/>
                        <a:t> estimasi waktu </a:t>
                      </a:r>
                      <a:r>
                        <a:rPr lang="id-ID" sz="1800" baseline="0" dirty="0">
                          <a:solidFill>
                            <a:srgbClr val="00B050"/>
                          </a:solidFill>
                        </a:rPr>
                        <a:t>6 bulan</a:t>
                      </a:r>
                    </a:p>
                    <a:p>
                      <a:pPr marL="800100" lvl="1" indent="-342900" algn="l">
                        <a:buFont typeface="Arial" pitchFamily="34" charset="0"/>
                        <a:buChar char="•"/>
                      </a:pPr>
                      <a:endParaRPr lang="en-US" sz="1100" b="0" dirty="0">
                        <a:solidFill>
                          <a:srgbClr val="0070C0"/>
                        </a:solidFill>
                      </a:endParaRPr>
                    </a:p>
                    <a:p>
                      <a:pPr algn="l"/>
                      <a:r>
                        <a:rPr lang="id-ID" sz="2000" b="1" dirty="0">
                          <a:solidFill>
                            <a:srgbClr val="C00000"/>
                          </a:solidFill>
                        </a:rPr>
                        <a:t>Kompatibilitas</a:t>
                      </a:r>
                      <a:r>
                        <a:rPr lang="id-ID" sz="2000" baseline="0" dirty="0"/>
                        <a:t> dengan sistem dan infrastruktur yang ada: Risiko </a:t>
                      </a:r>
                      <a:r>
                        <a:rPr lang="id-ID" sz="2000" baseline="0" dirty="0">
                          <a:solidFill>
                            <a:srgbClr val="0070C0"/>
                          </a:solidFill>
                        </a:rPr>
                        <a:t>Rendah</a:t>
                      </a:r>
                    </a:p>
                    <a:p>
                      <a:pPr marL="800100" lvl="1" indent="-342900" algn="l">
                        <a:buFont typeface="Arial" pitchFamily="34" charset="0"/>
                        <a:buChar char="•"/>
                      </a:pPr>
                      <a:r>
                        <a:rPr lang="id-ID" sz="1800" dirty="0"/>
                        <a:t>Sistem pemesanan yang ada sekarang menggunakan </a:t>
                      </a:r>
                      <a:r>
                        <a:rPr lang="id-ID" sz="1800" i="1" dirty="0"/>
                        <a:t>open </a:t>
                      </a:r>
                      <a:r>
                        <a:rPr lang="id-ID" sz="1800" i="1" dirty="0" err="1"/>
                        <a:t>standard</a:t>
                      </a:r>
                      <a:r>
                        <a:rPr lang="id-ID" sz="1800" dirty="0"/>
                        <a:t>, jadi sangat </a:t>
                      </a:r>
                      <a:r>
                        <a:rPr lang="id-ID" sz="1800" dirty="0">
                          <a:solidFill>
                            <a:srgbClr val="00B050"/>
                          </a:solidFill>
                        </a:rPr>
                        <a:t>kompatibel</a:t>
                      </a:r>
                      <a:r>
                        <a:rPr lang="id-ID" sz="1800" baseline="0" dirty="0"/>
                        <a:t> dengan sistem penjualan berbasis web yang akan dibangun</a:t>
                      </a:r>
                      <a:endParaRPr lang="en-US" sz="1800" dirty="0"/>
                    </a:p>
                  </a:txBody>
                  <a:tcPr marL="14886" marR="14886" marT="7443" marB="7443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5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00200" y="76200"/>
          <a:ext cx="8991600" cy="6692932"/>
        </p:xfrm>
        <a:graphic>
          <a:graphicData uri="http://schemas.openxmlformats.org/drawingml/2006/table">
            <a:tbl>
              <a:tblPr firstRow="1">
                <a:tableStyleId>{5DA37D80-6434-44D0-A028-1B22A696006F}</a:tableStyleId>
              </a:tblPr>
              <a:tblGrid>
                <a:gridCol w="899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0439">
                <a:tc>
                  <a:txBody>
                    <a:bodyPr/>
                    <a:lstStyle/>
                    <a:p>
                      <a:pPr algn="l"/>
                      <a:r>
                        <a:rPr lang="id-ID" sz="2400" b="1" i="0" dirty="0">
                          <a:latin typeface="+mn-lt"/>
                          <a:cs typeface="+mn-cs"/>
                        </a:rPr>
                        <a:t>Kelayakan</a:t>
                      </a:r>
                      <a:r>
                        <a:rPr lang="id-ID" sz="2400" b="1" i="0" baseline="0" dirty="0">
                          <a:latin typeface="+mn-lt"/>
                          <a:cs typeface="+mn-cs"/>
                        </a:rPr>
                        <a:t> Ekonomi</a:t>
                      </a:r>
                      <a:endParaRPr lang="en-US" sz="2400" b="1" i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451">
                <a:tc>
                  <a:txBody>
                    <a:bodyPr/>
                    <a:lstStyle/>
                    <a:p>
                      <a:pPr algn="l"/>
                      <a:r>
                        <a:rPr lang="id-ID" sz="2400" dirty="0" err="1"/>
                        <a:t>Cost</a:t>
                      </a:r>
                      <a:r>
                        <a:rPr lang="id-ID" sz="2400" dirty="0"/>
                        <a:t> </a:t>
                      </a:r>
                      <a:r>
                        <a:rPr lang="id-ID" sz="2400" dirty="0" err="1"/>
                        <a:t>benefit</a:t>
                      </a:r>
                      <a:r>
                        <a:rPr lang="id-ID" sz="2400" dirty="0"/>
                        <a:t> </a:t>
                      </a:r>
                      <a:r>
                        <a:rPr lang="id-ID" sz="2400" dirty="0" err="1"/>
                        <a:t>analysis</a:t>
                      </a:r>
                      <a:r>
                        <a:rPr lang="id-ID" sz="2400" dirty="0"/>
                        <a:t> telah</a:t>
                      </a:r>
                      <a:r>
                        <a:rPr lang="id-ID" sz="2400" baseline="0" dirty="0"/>
                        <a:t> dilakukan. Sistem </a:t>
                      </a:r>
                      <a:r>
                        <a:rPr lang="id-ID" sz="2400" dirty="0"/>
                        <a:t>Penjualan</a:t>
                      </a:r>
                      <a:r>
                        <a:rPr lang="id-ID" sz="2400" baseline="0" dirty="0"/>
                        <a:t> musik </a:t>
                      </a:r>
                      <a:r>
                        <a:rPr lang="id-ID" sz="2400" baseline="0" dirty="0" err="1"/>
                        <a:t>online</a:t>
                      </a:r>
                      <a:r>
                        <a:rPr lang="id-ID" sz="2400" baseline="0" dirty="0"/>
                        <a:t> memiliki peluang yang baik untuk bisa </a:t>
                      </a:r>
                      <a:r>
                        <a:rPr lang="id-ID" sz="2400" baseline="0" dirty="0">
                          <a:solidFill>
                            <a:srgbClr val="C00000"/>
                          </a:solidFill>
                        </a:rPr>
                        <a:t>meningkatkan pendapatan perusahaan</a:t>
                      </a:r>
                      <a:r>
                        <a:rPr lang="id-ID" sz="2400" baseline="0" dirty="0"/>
                        <a:t>.</a:t>
                      </a:r>
                    </a:p>
                    <a:p>
                      <a:pPr algn="l"/>
                      <a:endParaRPr lang="en-US" sz="2400" dirty="0"/>
                    </a:p>
                    <a:p>
                      <a:pPr marL="742950" lvl="1" indent="-285750" algn="l">
                        <a:buFont typeface="Arial" pitchFamily="34" charset="0"/>
                        <a:buChar char="•"/>
                      </a:pPr>
                      <a:r>
                        <a:rPr lang="en-US" sz="2400" b="0" dirty="0">
                          <a:solidFill>
                            <a:srgbClr val="C00000"/>
                          </a:solidFill>
                        </a:rPr>
                        <a:t>Return</a:t>
                      </a:r>
                      <a:r>
                        <a:rPr lang="en-US" sz="2400" b="0" baseline="0" dirty="0">
                          <a:solidFill>
                            <a:srgbClr val="C00000"/>
                          </a:solidFill>
                        </a:rPr>
                        <a:t> on Investment (R</a:t>
                      </a:r>
                      <a:r>
                        <a:rPr lang="en-US" sz="2400" b="0" dirty="0">
                          <a:solidFill>
                            <a:srgbClr val="C00000"/>
                          </a:solidFill>
                        </a:rPr>
                        <a:t>OI) </a:t>
                      </a:r>
                      <a:r>
                        <a:rPr lang="id-ID" sz="2400" b="0" dirty="0">
                          <a:solidFill>
                            <a:srgbClr val="C00000"/>
                          </a:solidFill>
                        </a:rPr>
                        <a:t>setelah</a:t>
                      </a:r>
                      <a:r>
                        <a:rPr lang="en-US" sz="2400" b="0" dirty="0">
                          <a:solidFill>
                            <a:srgbClr val="C00000"/>
                          </a:solidFill>
                        </a:rPr>
                        <a:t> 3 </a:t>
                      </a:r>
                      <a:r>
                        <a:rPr lang="id-ID" sz="2400" b="0" dirty="0">
                          <a:solidFill>
                            <a:srgbClr val="C00000"/>
                          </a:solidFill>
                        </a:rPr>
                        <a:t>tahun</a:t>
                      </a:r>
                      <a:r>
                        <a:rPr lang="en-US" sz="2400" dirty="0"/>
                        <a:t>: </a:t>
                      </a:r>
                      <a:r>
                        <a:rPr lang="id-ID" sz="2400" b="1" dirty="0">
                          <a:solidFill>
                            <a:srgbClr val="0070C0"/>
                          </a:solidFill>
                        </a:rPr>
                        <a:t>31%</a:t>
                      </a:r>
                      <a:endParaRPr lang="en-US" sz="2400" b="1" dirty="0">
                        <a:solidFill>
                          <a:srgbClr val="0070C0"/>
                        </a:solidFill>
                      </a:endParaRPr>
                    </a:p>
                    <a:p>
                      <a:pPr marL="742950" lvl="1" indent="-285750" algn="l">
                        <a:buFont typeface="Arial" pitchFamily="34" charset="0"/>
                        <a:buChar char="•"/>
                      </a:pPr>
                      <a:r>
                        <a:rPr lang="en-US" sz="2400" b="0" dirty="0">
                          <a:solidFill>
                            <a:srgbClr val="C00000"/>
                          </a:solidFill>
                        </a:rPr>
                        <a:t>Break-even point (BEP)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id-ID" sz="2400" b="1" dirty="0">
                          <a:solidFill>
                            <a:srgbClr val="0070C0"/>
                          </a:solidFill>
                        </a:rPr>
                        <a:t>2.25</a:t>
                      </a:r>
                      <a:r>
                        <a:rPr lang="id-ID" sz="2400" b="1" baseline="0" dirty="0">
                          <a:solidFill>
                            <a:srgbClr val="0070C0"/>
                          </a:solidFill>
                        </a:rPr>
                        <a:t> tahun</a:t>
                      </a:r>
                      <a:endParaRPr lang="en-US" sz="2400" b="1" dirty="0">
                        <a:solidFill>
                          <a:srgbClr val="0070C0"/>
                        </a:solidFill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id-ID" sz="2400" dirty="0"/>
                        <a:t>Total keuntungan</a:t>
                      </a:r>
                      <a:r>
                        <a:rPr lang="id-ID" sz="2400" baseline="0" dirty="0"/>
                        <a:t> setelah 3 tahun: </a:t>
                      </a:r>
                      <a:r>
                        <a:rPr lang="id-ID" sz="2400" b="1" baseline="0" dirty="0">
                          <a:solidFill>
                            <a:srgbClr val="0070C0"/>
                          </a:solidFill>
                        </a:rPr>
                        <a:t>Rp. 503.559.986,-</a:t>
                      </a:r>
                      <a:endParaRPr lang="id-ID" sz="2400" b="1" dirty="0">
                        <a:solidFill>
                          <a:srgbClr val="0070C0"/>
                        </a:solidFill>
                      </a:endParaRPr>
                    </a:p>
                    <a:p>
                      <a:pPr algn="l"/>
                      <a:endParaRPr lang="en-US" sz="2000" dirty="0"/>
                    </a:p>
                    <a:p>
                      <a:pPr marL="457200" lvl="1" indent="0" algn="l">
                        <a:buFont typeface="Arial" pitchFamily="34" charset="0"/>
                        <a:buNone/>
                      </a:pPr>
                      <a:endParaRPr lang="id-ID" sz="2000" baseline="0" dirty="0"/>
                    </a:p>
                    <a:p>
                      <a:pPr marL="457200" lvl="1" indent="0" algn="l">
                        <a:buFont typeface="Arial" pitchFamily="34" charset="0"/>
                        <a:buNone/>
                      </a:pP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86" marR="14886" marT="7443" marB="7443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81">
                <a:tc>
                  <a:txBody>
                    <a:bodyPr/>
                    <a:lstStyle/>
                    <a:p>
                      <a:pPr algn="l"/>
                      <a:r>
                        <a:rPr lang="id-ID" sz="2400" b="1" dirty="0"/>
                        <a:t>Kelayakan Organisasi</a:t>
                      </a:r>
                      <a:endParaRPr lang="en-US" sz="2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86" marR="14886" marT="7443" marB="7443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7029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id-ID" sz="2400" dirty="0"/>
                        <a:t>Secara organisasi, </a:t>
                      </a:r>
                      <a:r>
                        <a:rPr lang="id-ID" sz="2400" dirty="0" err="1">
                          <a:solidFill>
                            <a:srgbClr val="C00000"/>
                          </a:solidFill>
                        </a:rPr>
                        <a:t>resikonya</a:t>
                      </a:r>
                      <a:r>
                        <a:rPr lang="id-ID" sz="2400" dirty="0">
                          <a:solidFill>
                            <a:srgbClr val="C00000"/>
                          </a:solidFill>
                        </a:rPr>
                        <a:t> rendah</a:t>
                      </a:r>
                      <a:r>
                        <a:rPr lang="id-ID" sz="2400" dirty="0"/>
                        <a:t>. Tujuan dari pengembangan</a:t>
                      </a:r>
                      <a:r>
                        <a:rPr lang="id-ID" sz="2400" baseline="0" dirty="0"/>
                        <a:t> </a:t>
                      </a:r>
                      <a:r>
                        <a:rPr lang="id-ID" sz="2400" dirty="0"/>
                        <a:t>sistem penjualan</a:t>
                      </a:r>
                      <a:r>
                        <a:rPr lang="id-ID" sz="2400" baseline="0" dirty="0"/>
                        <a:t> musik </a:t>
                      </a:r>
                      <a:r>
                        <a:rPr lang="id-ID" sz="2400" baseline="0" dirty="0" err="1"/>
                        <a:t>online</a:t>
                      </a:r>
                      <a:r>
                        <a:rPr lang="id-ID" sz="2400" baseline="0" dirty="0"/>
                        <a:t> </a:t>
                      </a:r>
                      <a:r>
                        <a:rPr lang="id-ID" sz="2400" dirty="0"/>
                        <a:t>adalah meningkatkan penjualan perusahaan.</a:t>
                      </a:r>
                      <a:r>
                        <a:rPr lang="id-ID" sz="2400" baseline="0" dirty="0"/>
                        <a:t> D</a:t>
                      </a:r>
                      <a:r>
                        <a:rPr lang="id-ID" sz="2400" dirty="0"/>
                        <a:t>an ini selaras dengan KPI </a:t>
                      </a:r>
                      <a:r>
                        <a:rPr lang="id-ID" sz="2400" dirty="0" err="1"/>
                        <a:t>marketing</a:t>
                      </a:r>
                      <a:r>
                        <a:rPr lang="id-ID" sz="2400" dirty="0"/>
                        <a:t> yang ke arah peningkatan kuantitas</a:t>
                      </a:r>
                      <a:r>
                        <a:rPr lang="id-ID" sz="2400" baseline="0" dirty="0"/>
                        <a:t> penjualan</a:t>
                      </a:r>
                      <a:endParaRPr lang="en-US" sz="240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id-ID" sz="2400" dirty="0"/>
                        <a:t>Project </a:t>
                      </a:r>
                      <a:r>
                        <a:rPr lang="id-ID" sz="2400" dirty="0" err="1"/>
                        <a:t>champion</a:t>
                      </a:r>
                      <a:r>
                        <a:rPr lang="id-ID" sz="2400" dirty="0"/>
                        <a:t> dari pengembangan</a:t>
                      </a:r>
                      <a:r>
                        <a:rPr lang="id-ID" sz="2400" baseline="0" dirty="0"/>
                        <a:t> sistem p</a:t>
                      </a:r>
                      <a:r>
                        <a:rPr lang="id-ID" sz="2400" dirty="0"/>
                        <a:t>enjualan</a:t>
                      </a:r>
                      <a:r>
                        <a:rPr lang="id-ID" sz="2400" baseline="0" dirty="0"/>
                        <a:t> musik </a:t>
                      </a:r>
                      <a:r>
                        <a:rPr lang="id-ID" sz="2400" baseline="0" dirty="0" err="1"/>
                        <a:t>online</a:t>
                      </a:r>
                      <a:r>
                        <a:rPr lang="id-ID" sz="2400" baseline="0" dirty="0"/>
                        <a:t> ini adalah </a:t>
                      </a:r>
                      <a:r>
                        <a:rPr lang="en-US" sz="2400" dirty="0"/>
                        <a:t>Margaret Mooney, Vice President of Marketing</a:t>
                      </a:r>
                      <a:endParaRPr lang="id-ID" sz="24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2000" dirty="0"/>
                    </a:p>
                  </a:txBody>
                  <a:tcPr marL="14886" marR="14886" marT="7443" marB="7443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59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Content Placeholder 23"/>
          <p:cNvGraphicFramePr>
            <a:graphicFrameLocks noGrp="1"/>
          </p:cNvGraphicFramePr>
          <p:nvPr>
            <p:ph idx="1"/>
          </p:nvPr>
        </p:nvGraphicFramePr>
        <p:xfrm>
          <a:off x="1524000" y="2"/>
          <a:ext cx="9143998" cy="6857991"/>
        </p:xfrm>
        <a:graphic>
          <a:graphicData uri="http://schemas.openxmlformats.org/drawingml/2006/table">
            <a:tbl>
              <a:tblPr firstRow="1"/>
              <a:tblGrid>
                <a:gridCol w="4395859">
                  <a:extLst>
                    <a:ext uri="{9D8B030D-6E8A-4147-A177-3AD203B41FA5}">
                      <a16:colId xmlns:a16="http://schemas.microsoft.com/office/drawing/2014/main" val="2766120151"/>
                    </a:ext>
                  </a:extLst>
                </a:gridCol>
                <a:gridCol w="1516341">
                  <a:extLst>
                    <a:ext uri="{9D8B030D-6E8A-4147-A177-3AD203B41FA5}">
                      <a16:colId xmlns:a16="http://schemas.microsoft.com/office/drawing/2014/main" val="3684099855"/>
                    </a:ext>
                  </a:extLst>
                </a:gridCol>
                <a:gridCol w="1638874">
                  <a:extLst>
                    <a:ext uri="{9D8B030D-6E8A-4147-A177-3AD203B41FA5}">
                      <a16:colId xmlns:a16="http://schemas.microsoft.com/office/drawing/2014/main" val="3520705213"/>
                    </a:ext>
                  </a:extLst>
                </a:gridCol>
                <a:gridCol w="1592924">
                  <a:extLst>
                    <a:ext uri="{9D8B030D-6E8A-4147-A177-3AD203B41FA5}">
                      <a16:colId xmlns:a16="http://schemas.microsoft.com/office/drawing/2014/main" val="1056853858"/>
                    </a:ext>
                  </a:extLst>
                </a:gridCol>
              </a:tblGrid>
              <a:tr h="2638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 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201</a:t>
                      </a:r>
                      <a:r>
                        <a:rPr lang="id-ID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9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Narror"/>
                      </a:endParaRP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20</a:t>
                      </a:r>
                      <a:r>
                        <a:rPr lang="id-ID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20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Narror"/>
                      </a:endParaRP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20</a:t>
                      </a:r>
                      <a:r>
                        <a:rPr lang="id-ID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21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Narror"/>
                      </a:endParaRP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06936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sv-SE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Peningkatan penjualan dari pelanggan baru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400,000,000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500,000,000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10381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Peningkatan penjualan dari pelanggan lama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600,000,000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700,000,000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148974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Pengurangan biaya operasional dan telepon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3300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Total Benefits: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1,100,000,000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1,300,000,000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695741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PV of Benefits: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978,996,084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1,091,505,068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263081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PV of All Benefits: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978,996,084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2,070,501,152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706131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Honor Tim (Analysis, Design and Implementation)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360,000,000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5687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Honor Konsultan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90,000,000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453292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Total Development Costs: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450,000,000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895787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Honor Pengelola Web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60,000,000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70,000,000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80,000,000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553600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Biaya Lisensi Software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50,000,000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60,000,000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70,000,000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301489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Hardware upgrades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615638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Biaya Komunikasi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20,000,000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30,000,000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40,000,000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477085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Biaya Marketing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200,000,000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300,000,000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259698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Total Operational Costs: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330,000,000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460,000,000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590,000,000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98043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Total Costs: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780,000,000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460,000,000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590,000,000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825397"/>
                  </a:ext>
                </a:extLst>
              </a:tr>
              <a:tr h="46823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PV of Costs: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735,849,057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409,398,362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495,375,377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977670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PV of all Costs: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735,849,057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1,145,247,419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1,640,622,796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229878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Total Project Costs Less Benefits: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-780,000,000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640,000,000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710,000,000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559616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Yearly NPV: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-735,849,057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569,597,722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669,811,321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179837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Cumulative NPV: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-735,849,057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-166,251,335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503,559,986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591436"/>
                  </a:ext>
                </a:extLst>
              </a:tr>
              <a:tr h="444861"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Return on Investment (ROI) di </a:t>
                      </a:r>
                      <a:r>
                        <a:rPr lang="en-ID" sz="15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Tahun</a:t>
                      </a:r>
                      <a:r>
                        <a:rPr lang="en-ID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 3: </a:t>
                      </a:r>
                      <a:r>
                        <a:rPr lang="en-ID" sz="15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Narror"/>
                        </a:rPr>
                        <a:t>30.70%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-100.00%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-0.145166304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FF0000"/>
                          </a:solidFill>
                          <a:effectLst/>
                          <a:latin typeface="Arial Narror"/>
                        </a:rPr>
                        <a:t>0.306932213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536042"/>
                  </a:ext>
                </a:extLst>
              </a:tr>
              <a:tr h="40463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Break-even Point (BEP): </a:t>
                      </a:r>
                      <a:r>
                        <a:rPr lang="en-ID" sz="15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Narror"/>
                        </a:rPr>
                        <a:t>2.25 </a:t>
                      </a:r>
                      <a:r>
                        <a:rPr lang="en-ID" sz="15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Arial Narror"/>
                        </a:rPr>
                        <a:t>tahun</a:t>
                      </a:r>
                      <a:endParaRPr lang="en-ID" sz="1500" b="1" i="0" u="none" strike="noStrike" dirty="0">
                        <a:solidFill>
                          <a:srgbClr val="FF0000"/>
                        </a:solidFill>
                        <a:effectLst/>
                        <a:latin typeface="Arial Narror"/>
                      </a:endParaRP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 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 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Narror"/>
                        </a:rPr>
                        <a:t>2.248206218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49996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192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67E977-21C6-499C-93E1-B5A93A3E7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DEFC5-D355-4392-ACD5-5F058247AC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BF9E8E-A985-43EB-B7F3-384C815203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705" t="25218" r="31265" b="10184"/>
          <a:stretch/>
        </p:blipFill>
        <p:spPr>
          <a:xfrm>
            <a:off x="1952625" y="97465"/>
            <a:ext cx="8286750" cy="6584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081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0E75F7-0275-4DA0-9B99-4BF576A6F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34D925-BDBF-4D63-BAAE-31952FF9D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8B5A5-FF04-4AA3-B870-AD32DB5E17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64C9FD-C5D5-41E4-9393-FBD2BB8C7A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98" t="25836" r="27936" b="16157"/>
          <a:stretch/>
        </p:blipFill>
        <p:spPr>
          <a:xfrm>
            <a:off x="1524001" y="748072"/>
            <a:ext cx="9024127" cy="53618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7238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48F538-024E-4EAD-B5CC-0DAD6A9C8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B59432-F46D-49E6-B44A-9921B7C62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825C0-9502-4901-ACAB-AB15B5C1473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8663E2-D2F8-4A4E-9F20-1AB2427B6E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308" t="19907" r="32994" b="13951"/>
          <a:stretch/>
        </p:blipFill>
        <p:spPr>
          <a:xfrm>
            <a:off x="2295525" y="2406"/>
            <a:ext cx="7600951" cy="68555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716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EEE70F-E0BC-40F5-83B2-70A0852D5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C2D5E0-A66F-4995-A039-21F5BAC8A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23AE9-644F-48C1-90ED-E1EFBAD7D4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EF55AE-C1EF-4FC4-9E1A-7CB9371A2D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95" t="26111" r="25000" b="12175"/>
          <a:stretch/>
        </p:blipFill>
        <p:spPr>
          <a:xfrm>
            <a:off x="1676400" y="963293"/>
            <a:ext cx="8839200" cy="49314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478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B0FA36-F5D3-44DF-9714-72EA52EC2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F07084-99A3-45EF-B2D0-3C322A47B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76C47-0E37-4A05-9FD2-8D59125A882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33C7E1-9F0D-498C-BAE9-620F443E4B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333" t="25358" r="32500" b="10186"/>
          <a:stretch/>
        </p:blipFill>
        <p:spPr>
          <a:xfrm>
            <a:off x="1943100" y="76201"/>
            <a:ext cx="8305800" cy="65592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710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C3ABC1-B314-4A55-84C2-D174DD4A1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378391-CEE0-43B9-8D78-BD56E8661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FD066-8C68-4C0C-944C-EA6CC7228D0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0BD2A2-5F79-484B-8D94-7833FD0EB5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453" t="24121" r="32790" b="13751"/>
          <a:stretch/>
        </p:blipFill>
        <p:spPr>
          <a:xfrm>
            <a:off x="2155963" y="139592"/>
            <a:ext cx="7886700" cy="66687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4667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000" dirty="0" err="1"/>
              <a:t>Studi</a:t>
            </a:r>
            <a:r>
              <a:rPr lang="en-US" sz="5000" dirty="0"/>
              <a:t> </a:t>
            </a:r>
            <a:r>
              <a:rPr lang="en-US" sz="5000" dirty="0" err="1"/>
              <a:t>Kasus</a:t>
            </a:r>
            <a:r>
              <a:rPr lang="en-US" sz="5000" dirty="0"/>
              <a:t> Feasibility Study -2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 </a:t>
            </a:r>
            <a:r>
              <a:rPr lang="en-US" dirty="0" err="1"/>
              <a:t>inventaris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perusahaan</a:t>
            </a:r>
            <a:r>
              <a:rPr lang="en-US" dirty="0"/>
              <a:t> </a:t>
            </a:r>
            <a:r>
              <a:rPr lang="en-US" dirty="0" err="1"/>
              <a:t>ritel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699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Tujuan</a:t>
            </a:r>
            <a:r>
              <a:rPr lang="en-US" dirty="0"/>
              <a:t> Utama: </a:t>
            </a:r>
            <a:r>
              <a:rPr lang="en-US" dirty="0" err="1"/>
              <a:t>Memastikan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 </a:t>
            </a:r>
            <a:r>
              <a:rPr lang="en-US" dirty="0" err="1"/>
              <a:t>inventaris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perusahaan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melacak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mengelola</a:t>
            </a:r>
            <a:r>
              <a:rPr lang="en-US" dirty="0"/>
              <a:t> </a:t>
            </a:r>
            <a:r>
              <a:rPr lang="en-US" dirty="0" err="1"/>
              <a:t>stok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efisien</a:t>
            </a:r>
            <a:r>
              <a:rPr lang="en-US" dirty="0"/>
              <a:t>.</a:t>
            </a:r>
          </a:p>
          <a:p>
            <a:r>
              <a:rPr lang="en-US" dirty="0" err="1"/>
              <a:t>Fungsionalitas</a:t>
            </a:r>
            <a:r>
              <a:rPr lang="en-US" dirty="0"/>
              <a:t>: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mencatat</a:t>
            </a:r>
            <a:r>
              <a:rPr lang="en-US" dirty="0"/>
              <a:t> </a:t>
            </a:r>
            <a:r>
              <a:rPr lang="en-US" dirty="0" err="1"/>
              <a:t>penerimaan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pengeluaran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,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stok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real-time,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mengoptimalkan</a:t>
            </a:r>
            <a:r>
              <a:rPr lang="en-US" dirty="0"/>
              <a:t> proses </a:t>
            </a:r>
            <a:r>
              <a:rPr lang="en-US" dirty="0" err="1"/>
              <a:t>pemesanan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.</a:t>
            </a:r>
          </a:p>
          <a:p>
            <a:r>
              <a:rPr lang="en-US" dirty="0" err="1"/>
              <a:t>Pengguna</a:t>
            </a:r>
            <a:r>
              <a:rPr lang="en-US" dirty="0"/>
              <a:t>: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staf</a:t>
            </a:r>
            <a:r>
              <a:rPr lang="en-US" dirty="0"/>
              <a:t> </a:t>
            </a:r>
            <a:r>
              <a:rPr lang="en-US" dirty="0" err="1"/>
              <a:t>gudang</a:t>
            </a:r>
            <a:r>
              <a:rPr lang="en-US" dirty="0"/>
              <a:t>, </a:t>
            </a:r>
            <a:r>
              <a:rPr lang="en-US" dirty="0" err="1"/>
              <a:t>manajer</a:t>
            </a:r>
            <a:r>
              <a:rPr lang="en-US" dirty="0"/>
              <a:t> </a:t>
            </a:r>
            <a:r>
              <a:rPr lang="en-US" dirty="0" err="1"/>
              <a:t>inventaris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pihak</a:t>
            </a:r>
            <a:r>
              <a:rPr lang="en-US" dirty="0"/>
              <a:t> </a:t>
            </a:r>
            <a:r>
              <a:rPr lang="en-US" dirty="0" err="1"/>
              <a:t>terkait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083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000" dirty="0" err="1"/>
              <a:t>Studi</a:t>
            </a:r>
            <a:r>
              <a:rPr lang="en-US" sz="5000" dirty="0"/>
              <a:t> </a:t>
            </a:r>
            <a:r>
              <a:rPr lang="en-US" sz="5000" dirty="0" err="1"/>
              <a:t>Kasus</a:t>
            </a:r>
            <a:r>
              <a:rPr lang="en-US" sz="5000" dirty="0"/>
              <a:t> Feasibility Study -3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 </a:t>
            </a:r>
            <a:r>
              <a:rPr lang="en-US" dirty="0" err="1"/>
              <a:t>kepegawaian</a:t>
            </a:r>
            <a:r>
              <a:rPr lang="en-US" dirty="0"/>
              <a:t> (HRM)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perusahaan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53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Tujuan</a:t>
            </a:r>
            <a:r>
              <a:rPr lang="en-US" dirty="0"/>
              <a:t> Utama: </a:t>
            </a:r>
            <a:r>
              <a:rPr lang="en-US" dirty="0" err="1"/>
              <a:t>Meningkatkan</a:t>
            </a:r>
            <a:r>
              <a:rPr lang="en-US" dirty="0"/>
              <a:t> </a:t>
            </a:r>
            <a:r>
              <a:rPr lang="en-US" dirty="0" err="1"/>
              <a:t>efisiensi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daya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, </a:t>
            </a:r>
            <a:r>
              <a:rPr lang="en-US" dirty="0" err="1"/>
              <a:t>termasuk</a:t>
            </a:r>
            <a:r>
              <a:rPr lang="en-US" dirty="0"/>
              <a:t> </a:t>
            </a:r>
            <a:r>
              <a:rPr lang="en-US" dirty="0" err="1"/>
              <a:t>perekrutan</a:t>
            </a:r>
            <a:r>
              <a:rPr lang="en-US" dirty="0"/>
              <a:t>, </a:t>
            </a:r>
            <a:r>
              <a:rPr lang="en-US" dirty="0" err="1"/>
              <a:t>pelatihan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evaluasi</a:t>
            </a:r>
            <a:r>
              <a:rPr lang="en-US" dirty="0"/>
              <a:t> </a:t>
            </a:r>
            <a:r>
              <a:rPr lang="en-US" dirty="0" err="1"/>
              <a:t>kinerja</a:t>
            </a:r>
            <a:r>
              <a:rPr lang="en-US" dirty="0"/>
              <a:t>.</a:t>
            </a:r>
          </a:p>
          <a:p>
            <a:r>
              <a:rPr lang="en-US" dirty="0" err="1"/>
              <a:t>Fungsionalitas</a:t>
            </a:r>
            <a:r>
              <a:rPr lang="en-US" dirty="0"/>
              <a:t>: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mengelola</a:t>
            </a:r>
            <a:r>
              <a:rPr lang="en-US" dirty="0"/>
              <a:t> data </a:t>
            </a:r>
            <a:r>
              <a:rPr lang="en-US" dirty="0" err="1"/>
              <a:t>karyawan</a:t>
            </a:r>
            <a:r>
              <a:rPr lang="en-US" dirty="0"/>
              <a:t>, </a:t>
            </a:r>
            <a:r>
              <a:rPr lang="en-US" dirty="0" err="1"/>
              <a:t>menyusun</a:t>
            </a:r>
            <a:r>
              <a:rPr lang="en-US" dirty="0"/>
              <a:t> </a:t>
            </a:r>
            <a:r>
              <a:rPr lang="en-US" dirty="0" err="1"/>
              <a:t>jadwal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,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self-service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karyawan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menyediakan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kinerja</a:t>
            </a:r>
            <a:r>
              <a:rPr lang="en-US" dirty="0"/>
              <a:t>.</a:t>
            </a:r>
          </a:p>
          <a:p>
            <a:r>
              <a:rPr lang="en-US" dirty="0" err="1"/>
              <a:t>Pengguna</a:t>
            </a:r>
            <a:r>
              <a:rPr lang="en-US" dirty="0"/>
              <a:t>: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HR manager, </a:t>
            </a:r>
            <a:r>
              <a:rPr lang="en-US" dirty="0" err="1"/>
              <a:t>manajer</a:t>
            </a:r>
            <a:r>
              <a:rPr lang="en-US" dirty="0"/>
              <a:t> </a:t>
            </a:r>
            <a:r>
              <a:rPr lang="en-US" dirty="0" err="1"/>
              <a:t>departemen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karyawan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270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781</Words>
  <Application>Microsoft Office PowerPoint</Application>
  <PresentationFormat>Widescreen</PresentationFormat>
  <Paragraphs>178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Narror</vt:lpstr>
      <vt:lpstr>Calibri</vt:lpstr>
      <vt:lpstr>Calibri Light</vt:lpstr>
      <vt:lpstr>Wingdings</vt:lpstr>
      <vt:lpstr>Office Theme</vt:lpstr>
      <vt:lpstr>Studi Kasus Feasibility Study -1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Studi Kasus Feasibility Study -2</vt:lpstr>
      <vt:lpstr>Business Requirement</vt:lpstr>
      <vt:lpstr>Studi Kasus Feasibility Study -3</vt:lpstr>
      <vt:lpstr>Business Requirement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Studi Kasus Feasibility Study -1</dc:title>
  <dc:creator>Yulia K</dc:creator>
  <cp:lastModifiedBy>Yulia</cp:lastModifiedBy>
  <cp:revision>2</cp:revision>
  <dcterms:created xsi:type="dcterms:W3CDTF">2024-01-28T11:43:55Z</dcterms:created>
  <dcterms:modified xsi:type="dcterms:W3CDTF">2024-02-10T07:36:00Z</dcterms:modified>
</cp:coreProperties>
</file>